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1BB5-1E15-4960-94A3-8C75E2E47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0D509B-BDE5-4B16-8AD6-F2A0DCB7D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2C3D2-A5AD-4EB7-B440-494283B2B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DCC1-B621-4478-B264-2734545B7402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18D5F-07B3-409B-9209-01DB2F63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E0986-5600-4248-A25B-675AC6144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3391A-19F1-403E-87A1-DE299AB3A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594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9EB8-186C-4942-841C-6935A67F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C2455-627D-4FD0-89DF-2A89A1A0C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3728C-6F3A-48DB-8A2F-B52E0872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DCC1-B621-4478-B264-2734545B7402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73E26-7ED7-481A-8123-9F8EE09F2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B11CE-1C01-4A7C-9A2B-D31549870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3391A-19F1-403E-87A1-DE299AB3A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240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98BCB-14F3-4C57-9B61-D9C1088F4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B5149-8449-4741-B70E-8C43BE879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43CF1-4068-4026-9A40-D6FD4A06E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DCC1-B621-4478-B264-2734545B7402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EEB78-E194-43A7-84DB-34285DDBB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00984-3840-45BF-890F-195991280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3391A-19F1-403E-87A1-DE299AB3A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0499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DB4A-00C7-45C6-A1CC-2C1A8BCE9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D1398-A9E6-4D60-ADDE-F01351C97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0B601-88C8-42AE-B785-B6C25B93E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BC69B-EC85-4E7F-AE35-B8F57304C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DCC1-B621-4478-B264-2734545B7402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6CDDD-1E1C-4FA8-8A46-3EB7D11A1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EEE81-5E5C-4C5E-9F44-389EBB37B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3391A-19F1-403E-87A1-DE299AB3A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585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6AD14-4085-4B6C-95BD-80E647FED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61D47-90A7-4AEE-9642-89A6511B5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7C47D-D86A-439D-9C93-09166BD84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2F8A3A-C6A4-4B19-A980-C9DDC8FA4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03792E-04F4-4A6A-8B86-2CB5B3903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AD18D0-C675-4567-BA1F-73FC59221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DCC1-B621-4478-B264-2734545B7402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FB728-73F5-4E0D-9E89-21D790656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C8B83-A1D9-4CA2-ABDE-EC6F02443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3391A-19F1-403E-87A1-DE299AB3A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165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2E7B5-2261-41EA-964D-7366FD766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348058-C4AF-434A-A744-9509392F4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DCC1-B621-4478-B264-2734545B7402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F336E-E951-435B-8731-7B0002F5E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53E86-A010-4D5B-B908-1B9E534F7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3391A-19F1-403E-87A1-DE299AB3A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375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10694-0A53-48BB-8FD5-55384B61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DCC1-B621-4478-B264-2734545B7402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19942B-9DE3-4D23-A5D1-84F60B8E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1C2A9-2356-4CFB-8460-7C2588D91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3391A-19F1-403E-87A1-DE299AB3A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586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F1D38-A370-4F73-A771-B1121EBE5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499D-1286-40AB-A5DA-731CDDED8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BED67-F9C4-4619-9E0D-4EEE0AFF5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5CB89-AEE6-4D54-8681-4CA608685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DCC1-B621-4478-B264-2734545B7402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74DE5-F295-4457-AAC8-D1383FD06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B3EDF-7F60-4F14-802F-0632507B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3391A-19F1-403E-87A1-DE299AB3A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684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364DC-F621-4117-B8F0-C708C56D1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2FBA34-E894-435E-AD40-3C8A18E095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16477-2316-4076-8181-8ED40C8D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B6154-A5E7-44EF-A76C-EF7D65689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DCC1-B621-4478-B264-2734545B7402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5C182-13F8-4A93-86A6-90816B017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E55B4-AE5E-4D88-B382-D7F381A48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3391A-19F1-403E-87A1-DE299AB3A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267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253D6-93D2-4B69-A954-2DD66C3FB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5B4E6-A123-49AB-B9EA-F28C229A7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9A8F4-5B8F-4470-93CA-7B813E4D0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DCC1-B621-4478-B264-2734545B7402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9E7D1-FA8C-4DB1-BBD7-349F304B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9C40-E132-4A07-B3E5-FA3746F5F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3391A-19F1-403E-87A1-DE299AB3A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558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93194E-AD88-4BA5-AFB6-EAE976A75D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936A1-81A9-467F-AAD1-297E51FC2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B214B-00A2-42D7-9757-AD44BC0CA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DCC1-B621-4478-B264-2734545B7402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F686A-9E89-43C1-8D11-117A1B7AD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CFBFD-C2FF-48C9-8A6C-D241AE5A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3391A-19F1-403E-87A1-DE299AB3A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872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2B5233-4429-4E79-AE43-BD3593FF0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3BD8B-0149-41CD-8EE0-E209EB523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48EB3-2EEA-46B2-8EEE-7984CE9D43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1DCC1-B621-4478-B264-2734545B7402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87E89-BC52-40E8-B85B-1E333BD0C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27FF3-C68E-4208-AEE5-9497E58AD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3391A-19F1-403E-87A1-DE299AB3A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484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81F3-AE97-47A3-99CB-5287731DB4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cơ</a:t>
            </a:r>
            <a:r>
              <a:rPr lang="en-GB" dirty="0"/>
              <a:t> </a:t>
            </a:r>
            <a:r>
              <a:rPr lang="en-GB" dirty="0" err="1"/>
              <a:t>bản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9347D3-25B1-4D2D-B0E4-49032C7683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301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C4D06-8803-468E-8B04-ED7D2009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Nội</a:t>
            </a:r>
            <a:r>
              <a:rPr lang="en-GB" dirty="0"/>
              <a:t> dung </a:t>
            </a:r>
            <a:r>
              <a:rPr lang="en-GB" dirty="0" err="1"/>
              <a:t>bài</a:t>
            </a:r>
            <a:r>
              <a:rPr lang="en-GB" dirty="0"/>
              <a:t> </a:t>
            </a:r>
            <a:r>
              <a:rPr lang="en-GB" dirty="0" err="1"/>
              <a:t>học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19CE1-BF1E-4FA2-918E-919B758A1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Biến</a:t>
            </a:r>
            <a:endParaRPr lang="en-GB" dirty="0"/>
          </a:p>
          <a:p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gán</a:t>
            </a:r>
            <a:endParaRPr lang="en-GB" dirty="0"/>
          </a:p>
          <a:p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</a:t>
            </a:r>
            <a:r>
              <a:rPr lang="en-GB" dirty="0" err="1"/>
              <a:t>ra</a:t>
            </a:r>
            <a:r>
              <a:rPr lang="en-GB" dirty="0"/>
              <a:t> </a:t>
            </a:r>
            <a:r>
              <a:rPr lang="en-GB" dirty="0" err="1"/>
              <a:t>cơ</a:t>
            </a:r>
            <a:r>
              <a:rPr lang="en-GB" dirty="0"/>
              <a:t> </a:t>
            </a:r>
            <a:r>
              <a:rPr lang="en-GB" dirty="0" err="1"/>
              <a:t>bản</a:t>
            </a:r>
            <a:endParaRPr lang="en-GB" dirty="0"/>
          </a:p>
          <a:p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toán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9521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79124-C019-4A47-952A-FBBD2B340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Biến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gì</a:t>
            </a:r>
            <a:r>
              <a:rPr lang="en-GB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207A0-3319-4D12-A018-E9FA40426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57EA12-1839-432A-A230-68C0AC8E0F32}"/>
              </a:ext>
            </a:extLst>
          </p:cNvPr>
          <p:cNvSpPr/>
          <p:nvPr/>
        </p:nvSpPr>
        <p:spPr>
          <a:xfrm>
            <a:off x="2321628" y="1972686"/>
            <a:ext cx="3146960" cy="6828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128 + </a:t>
            </a:r>
            <a:r>
              <a:rPr lang="en-GB" sz="3600" dirty="0">
                <a:solidFill>
                  <a:srgbClr val="FF0000"/>
                </a:solidFill>
              </a:rPr>
              <a:t>X</a:t>
            </a:r>
            <a:r>
              <a:rPr lang="en-GB" sz="3600" dirty="0"/>
              <a:t> = 150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D7B67B-14B9-447C-BD17-F9EB36F1E4D3}"/>
              </a:ext>
            </a:extLst>
          </p:cNvPr>
          <p:cNvSpPr/>
          <p:nvPr/>
        </p:nvSpPr>
        <p:spPr>
          <a:xfrm>
            <a:off x="2321628" y="2968831"/>
            <a:ext cx="3146960" cy="6828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rgbClr val="FFC000"/>
                </a:solidFill>
              </a:rPr>
              <a:t>Y</a:t>
            </a:r>
            <a:r>
              <a:rPr lang="en-GB" sz="3600" dirty="0"/>
              <a:t> + </a:t>
            </a:r>
            <a:r>
              <a:rPr lang="en-GB" sz="3600" dirty="0">
                <a:solidFill>
                  <a:srgbClr val="FF0000"/>
                </a:solidFill>
              </a:rPr>
              <a:t>X</a:t>
            </a:r>
            <a:r>
              <a:rPr lang="en-GB" sz="3600" dirty="0"/>
              <a:t> = 145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E1EA55-1A43-4932-99C6-18CAC1FEA774}"/>
              </a:ext>
            </a:extLst>
          </p:cNvPr>
          <p:cNvSpPr/>
          <p:nvPr/>
        </p:nvSpPr>
        <p:spPr>
          <a:xfrm>
            <a:off x="7101446" y="1972685"/>
            <a:ext cx="3146960" cy="6828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rgbClr val="FF0000"/>
                </a:solidFill>
              </a:rPr>
              <a:t>X</a:t>
            </a:r>
            <a:r>
              <a:rPr lang="en-GB" sz="3600" dirty="0"/>
              <a:t> = 22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17B421-2514-4895-B7A5-3893310F08AE}"/>
              </a:ext>
            </a:extLst>
          </p:cNvPr>
          <p:cNvSpPr/>
          <p:nvPr/>
        </p:nvSpPr>
        <p:spPr>
          <a:xfrm>
            <a:off x="7101446" y="2968830"/>
            <a:ext cx="3146960" cy="6828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rgbClr val="FFC000"/>
                </a:solidFill>
              </a:rPr>
              <a:t>Y</a:t>
            </a:r>
            <a:r>
              <a:rPr lang="en-GB" sz="3600" dirty="0"/>
              <a:t> = 123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E24FD9D-5116-4FD3-97F9-F8D20A4DE3A2}"/>
              </a:ext>
            </a:extLst>
          </p:cNvPr>
          <p:cNvSpPr/>
          <p:nvPr/>
        </p:nvSpPr>
        <p:spPr>
          <a:xfrm>
            <a:off x="5812971" y="2094406"/>
            <a:ext cx="961902" cy="4393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EB761EC-A92A-4049-8279-06C62292B697}"/>
              </a:ext>
            </a:extLst>
          </p:cNvPr>
          <p:cNvSpPr/>
          <p:nvPr/>
        </p:nvSpPr>
        <p:spPr>
          <a:xfrm>
            <a:off x="5812971" y="3090551"/>
            <a:ext cx="961902" cy="4393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4AFE04-0D11-46BB-B43E-05569AB3C6BB}"/>
              </a:ext>
            </a:extLst>
          </p:cNvPr>
          <p:cNvSpPr/>
          <p:nvPr/>
        </p:nvSpPr>
        <p:spPr>
          <a:xfrm>
            <a:off x="2321628" y="3964976"/>
            <a:ext cx="3649684" cy="884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dirty="0"/>
              <a:t>Gió đưa cành</a:t>
            </a:r>
            <a:r>
              <a:rPr lang="en-GB" sz="1400" dirty="0"/>
              <a:t>……</a:t>
            </a:r>
            <a:r>
              <a:rPr lang="vi-VN" sz="1400" dirty="0"/>
              <a:t>la đà,</a:t>
            </a:r>
            <a:br>
              <a:rPr lang="vi-VN" sz="1400" dirty="0"/>
            </a:br>
            <a:r>
              <a:rPr lang="vi-VN" sz="1400" dirty="0"/>
              <a:t>Tiếng chuông Trấn Vũ, canh</a:t>
            </a:r>
            <a:r>
              <a:rPr lang="en-GB" sz="1400" dirty="0"/>
              <a:t>….</a:t>
            </a:r>
            <a:r>
              <a:rPr lang="vi-VN" sz="1400" dirty="0"/>
              <a:t>Thọ Xương.</a:t>
            </a:r>
            <a:endParaRPr lang="en-GB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C83A1D-E800-4B9C-A90E-8F17A5747C77}"/>
              </a:ext>
            </a:extLst>
          </p:cNvPr>
          <p:cNvSpPr/>
          <p:nvPr/>
        </p:nvSpPr>
        <p:spPr>
          <a:xfrm>
            <a:off x="2321628" y="5128274"/>
            <a:ext cx="3649684" cy="884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dirty="0"/>
              <a:t>Gió đưa cành</a:t>
            </a:r>
            <a:r>
              <a:rPr lang="en-GB" sz="1400" dirty="0"/>
              <a:t>……</a:t>
            </a:r>
            <a:r>
              <a:rPr lang="vi-VN" sz="1400" dirty="0"/>
              <a:t>la đà,</a:t>
            </a:r>
            <a:br>
              <a:rPr lang="vi-VN" sz="1400" dirty="0"/>
            </a:br>
            <a:r>
              <a:rPr lang="vi-VN" sz="1400" dirty="0"/>
              <a:t>Tiếng chuông Trấn Vũ, canh</a:t>
            </a:r>
            <a:r>
              <a:rPr lang="en-GB" sz="1400" dirty="0"/>
              <a:t>….</a:t>
            </a:r>
            <a:r>
              <a:rPr lang="vi-VN" sz="1400" dirty="0"/>
              <a:t>Thọ Xương.</a:t>
            </a:r>
            <a:endParaRPr lang="en-GB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DEB9CD-4AAD-4D18-938D-F7305AB20DDA}"/>
              </a:ext>
            </a:extLst>
          </p:cNvPr>
          <p:cNvSpPr/>
          <p:nvPr/>
        </p:nvSpPr>
        <p:spPr>
          <a:xfrm>
            <a:off x="4393870" y="5284726"/>
            <a:ext cx="154379" cy="207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044CAA-85C2-428F-BB0A-033988282363}"/>
              </a:ext>
            </a:extLst>
          </p:cNvPr>
          <p:cNvSpPr/>
          <p:nvPr/>
        </p:nvSpPr>
        <p:spPr>
          <a:xfrm>
            <a:off x="4696692" y="5570630"/>
            <a:ext cx="154379" cy="207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C000"/>
                </a:solidFill>
              </a:rPr>
              <a:t>Y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A6F72AD-6613-4BB2-AD5E-06E84E75B8D8}"/>
              </a:ext>
            </a:extLst>
          </p:cNvPr>
          <p:cNvSpPr/>
          <p:nvPr/>
        </p:nvSpPr>
        <p:spPr>
          <a:xfrm>
            <a:off x="6139544" y="5350936"/>
            <a:ext cx="961902" cy="4393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A94F57-055F-445D-8DF7-8B3857220CB9}"/>
              </a:ext>
            </a:extLst>
          </p:cNvPr>
          <p:cNvSpPr/>
          <p:nvPr/>
        </p:nvSpPr>
        <p:spPr>
          <a:xfrm>
            <a:off x="7226135" y="5128273"/>
            <a:ext cx="3022271" cy="884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1400" dirty="0">
                <a:solidFill>
                  <a:srgbClr val="FF0000"/>
                </a:solidFill>
              </a:rPr>
              <a:t>X</a:t>
            </a:r>
            <a:r>
              <a:rPr lang="en-GB" sz="1400" dirty="0"/>
              <a:t> = </a:t>
            </a:r>
            <a:r>
              <a:rPr lang="en-GB" sz="1400" dirty="0" err="1"/>
              <a:t>trúc</a:t>
            </a:r>
            <a:endParaRPr lang="en-GB" sz="1400" dirty="0"/>
          </a:p>
          <a:p>
            <a:pPr lvl="1"/>
            <a:r>
              <a:rPr lang="en-GB" sz="1400" dirty="0">
                <a:solidFill>
                  <a:srgbClr val="FFC000"/>
                </a:solidFill>
              </a:rPr>
              <a:t>Y</a:t>
            </a:r>
            <a:r>
              <a:rPr lang="en-GB" sz="1400" dirty="0"/>
              <a:t> = </a:t>
            </a:r>
            <a:r>
              <a:rPr lang="en-GB" sz="1400" dirty="0" err="1"/>
              <a:t>gà</a:t>
            </a:r>
            <a:r>
              <a:rPr lang="en-GB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720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2" grpId="0" animBg="1"/>
      <p:bldP spid="15" grpId="0" animBg="1"/>
      <p:bldP spid="16" grpId="0"/>
      <p:bldP spid="17" grpId="0"/>
      <p:bldP spid="18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F1F74-B09E-49FD-ADF9-D517CE882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Biến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gì</a:t>
            </a:r>
            <a:r>
              <a:rPr lang="en-GB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50934-5F8F-41C6-962F-4869D7EF9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Biến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kí</a:t>
            </a:r>
            <a:r>
              <a:rPr lang="en-GB" dirty="0"/>
              <a:t> </a:t>
            </a:r>
            <a:r>
              <a:rPr lang="en-GB" dirty="0" err="1"/>
              <a:t>tự</a:t>
            </a:r>
            <a:r>
              <a:rPr lang="en-GB" dirty="0"/>
              <a:t> </a:t>
            </a:r>
            <a:r>
              <a:rPr lang="en-GB" dirty="0" err="1"/>
              <a:t>hoặc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nhóm</a:t>
            </a:r>
            <a:r>
              <a:rPr lang="en-GB" dirty="0"/>
              <a:t> </a:t>
            </a:r>
            <a:r>
              <a:rPr lang="en-GB" dirty="0" err="1"/>
              <a:t>kí</a:t>
            </a:r>
            <a:r>
              <a:rPr lang="en-GB" dirty="0"/>
              <a:t> </a:t>
            </a:r>
            <a:r>
              <a:rPr lang="en-GB" dirty="0" err="1"/>
              <a:t>tự</a:t>
            </a:r>
            <a:r>
              <a:rPr lang="en-GB" dirty="0"/>
              <a:t> </a:t>
            </a:r>
            <a:r>
              <a:rPr lang="en-GB" dirty="0" err="1"/>
              <a:t>thay</a:t>
            </a:r>
            <a:r>
              <a:rPr lang="en-GB" dirty="0"/>
              <a:t> </a:t>
            </a:r>
            <a:r>
              <a:rPr lang="en-GB" dirty="0" err="1"/>
              <a:t>thế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giá</a:t>
            </a:r>
            <a:r>
              <a:rPr lang="en-GB" dirty="0"/>
              <a:t> </a:t>
            </a:r>
            <a:r>
              <a:rPr lang="en-GB" dirty="0" err="1"/>
              <a:t>trị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cụ</a:t>
            </a:r>
            <a:r>
              <a:rPr lang="en-GB" dirty="0"/>
              <a:t> </a:t>
            </a:r>
            <a:r>
              <a:rPr lang="en-GB" dirty="0" err="1"/>
              <a:t>thể</a:t>
            </a:r>
            <a:r>
              <a:rPr lang="en-GB" dirty="0"/>
              <a:t>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thể</a:t>
            </a:r>
            <a:r>
              <a:rPr lang="en-GB" dirty="0"/>
              <a:t> </a:t>
            </a:r>
            <a:r>
              <a:rPr lang="en-GB" dirty="0" err="1"/>
              <a:t>dùng</a:t>
            </a:r>
            <a:r>
              <a:rPr lang="en-GB" dirty="0"/>
              <a:t> </a:t>
            </a:r>
            <a:r>
              <a:rPr lang="en-GB" dirty="0" err="1"/>
              <a:t>khi</a:t>
            </a:r>
            <a:r>
              <a:rPr lang="en-GB" dirty="0"/>
              <a:t> </a:t>
            </a:r>
            <a:r>
              <a:rPr lang="en-GB" dirty="0" err="1"/>
              <a:t>cần</a:t>
            </a:r>
            <a:r>
              <a:rPr lang="en-GB" dirty="0"/>
              <a:t>.</a:t>
            </a:r>
          </a:p>
          <a:p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lập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, </a:t>
            </a:r>
            <a:r>
              <a:rPr lang="en-GB" dirty="0" err="1"/>
              <a:t>biến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tên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vùng</a:t>
            </a:r>
            <a:r>
              <a:rPr lang="en-GB" dirty="0"/>
              <a:t> </a:t>
            </a:r>
            <a:r>
              <a:rPr lang="en-GB" dirty="0" err="1"/>
              <a:t>nhớ</a:t>
            </a:r>
            <a:r>
              <a:rPr lang="en-GB" dirty="0"/>
              <a:t> </a:t>
            </a:r>
            <a:r>
              <a:rPr lang="en-GB" dirty="0" err="1"/>
              <a:t>dùng</a:t>
            </a:r>
            <a:r>
              <a:rPr lang="en-GB" dirty="0"/>
              <a:t>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lưu</a:t>
            </a:r>
            <a:r>
              <a:rPr lang="en-GB" dirty="0"/>
              <a:t> </a:t>
            </a:r>
            <a:r>
              <a:rPr lang="en-GB" dirty="0" err="1"/>
              <a:t>trữ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đó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thể</a:t>
            </a:r>
            <a:r>
              <a:rPr lang="en-GB" dirty="0"/>
              <a:t> </a:t>
            </a:r>
            <a:r>
              <a:rPr lang="en-GB" dirty="0" err="1"/>
              <a:t>thay</a:t>
            </a:r>
            <a:r>
              <a:rPr lang="en-GB" dirty="0"/>
              <a:t> </a:t>
            </a:r>
            <a:r>
              <a:rPr lang="en-GB" dirty="0" err="1"/>
              <a:t>đổi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quá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thi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chương</a:t>
            </a:r>
            <a:r>
              <a:rPr lang="en-GB" dirty="0"/>
              <a:t> </a:t>
            </a:r>
            <a:r>
              <a:rPr lang="en-GB" dirty="0" err="1"/>
              <a:t>trình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877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F073D-CD75-4820-8782-8F2D8424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gán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0FAE6-3603-42E6-9F68-9788614DD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4473"/>
            <a:ext cx="10515600" cy="2602489"/>
          </a:xfrm>
        </p:spPr>
        <p:txBody>
          <a:bodyPr/>
          <a:lstStyle/>
          <a:p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gán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dùng</a:t>
            </a:r>
            <a:r>
              <a:rPr lang="en-GB" dirty="0"/>
              <a:t>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lưu</a:t>
            </a:r>
            <a:r>
              <a:rPr lang="en-GB" dirty="0"/>
              <a:t> </a:t>
            </a:r>
            <a:r>
              <a:rPr lang="en-GB" dirty="0" err="1"/>
              <a:t>giá</a:t>
            </a:r>
            <a:r>
              <a:rPr lang="en-GB" dirty="0"/>
              <a:t> </a:t>
            </a:r>
            <a:r>
              <a:rPr lang="en-GB" dirty="0" err="1"/>
              <a:t>trị</a:t>
            </a:r>
            <a:r>
              <a:rPr lang="en-GB" dirty="0"/>
              <a:t> </a:t>
            </a:r>
            <a:r>
              <a:rPr lang="en-GB" dirty="0" err="1"/>
              <a:t>mới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biến</a:t>
            </a:r>
            <a:r>
              <a:rPr lang="en-GB" dirty="0"/>
              <a:t>. </a:t>
            </a:r>
          </a:p>
          <a:p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gán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cấu</a:t>
            </a:r>
            <a:r>
              <a:rPr lang="en-GB" dirty="0"/>
              <a:t> </a:t>
            </a:r>
            <a:r>
              <a:rPr lang="en-GB" dirty="0" err="1"/>
              <a:t>trúc</a:t>
            </a:r>
            <a:r>
              <a:rPr lang="en-GB" dirty="0"/>
              <a:t> </a:t>
            </a:r>
            <a:r>
              <a:rPr lang="en-GB" dirty="0" err="1"/>
              <a:t>như</a:t>
            </a:r>
            <a:r>
              <a:rPr lang="en-GB" dirty="0"/>
              <a:t> </a:t>
            </a:r>
            <a:r>
              <a:rPr lang="en-GB" dirty="0" err="1"/>
              <a:t>sau</a:t>
            </a:r>
            <a:r>
              <a:rPr lang="en-GB" dirty="0"/>
              <a:t>: </a:t>
            </a:r>
          </a:p>
          <a:p>
            <a:pPr marL="0" indent="0" algn="ctr">
              <a:buNone/>
            </a:pPr>
            <a:r>
              <a:rPr lang="en-GB" dirty="0">
                <a:solidFill>
                  <a:srgbClr val="FF0000"/>
                </a:solidFill>
              </a:rPr>
              <a:t>&lt;</a:t>
            </a:r>
            <a:r>
              <a:rPr lang="en-GB" dirty="0" err="1">
                <a:solidFill>
                  <a:srgbClr val="FF0000"/>
                </a:solidFill>
              </a:rPr>
              <a:t>Tên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biến</a:t>
            </a:r>
            <a:r>
              <a:rPr lang="en-GB" dirty="0">
                <a:solidFill>
                  <a:srgbClr val="FF0000"/>
                </a:solidFill>
              </a:rPr>
              <a:t>&gt; = &lt;</a:t>
            </a:r>
            <a:r>
              <a:rPr lang="en-GB" dirty="0" err="1">
                <a:solidFill>
                  <a:srgbClr val="FF0000"/>
                </a:solidFill>
              </a:rPr>
              <a:t>giá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trị</a:t>
            </a:r>
            <a:r>
              <a:rPr lang="en-GB" dirty="0">
                <a:solidFill>
                  <a:srgbClr val="FF0000"/>
                </a:solidFill>
              </a:rPr>
              <a:t>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29BF12-9B5D-4F42-BB97-8922A16567BD}"/>
              </a:ext>
            </a:extLst>
          </p:cNvPr>
          <p:cNvSpPr/>
          <p:nvPr/>
        </p:nvSpPr>
        <p:spPr>
          <a:xfrm>
            <a:off x="2406688" y="1703060"/>
            <a:ext cx="3146960" cy="6828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128 + </a:t>
            </a:r>
            <a:r>
              <a:rPr lang="en-GB" sz="3600" dirty="0">
                <a:solidFill>
                  <a:srgbClr val="FF0000"/>
                </a:solidFill>
              </a:rPr>
              <a:t>X</a:t>
            </a:r>
            <a:r>
              <a:rPr lang="en-GB" sz="3600" dirty="0"/>
              <a:t> = 150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EB6550-CC1C-4C81-83FF-B95AEEFB9F62}"/>
              </a:ext>
            </a:extLst>
          </p:cNvPr>
          <p:cNvSpPr/>
          <p:nvPr/>
        </p:nvSpPr>
        <p:spPr>
          <a:xfrm>
            <a:off x="7186506" y="1703059"/>
            <a:ext cx="3146960" cy="6828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rgbClr val="FF0000"/>
                </a:solidFill>
              </a:rPr>
              <a:t>X</a:t>
            </a:r>
            <a:r>
              <a:rPr lang="en-GB" sz="3600" dirty="0"/>
              <a:t> = 22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7DF9B9D-87C9-4ED2-A7EF-705B243201A8}"/>
              </a:ext>
            </a:extLst>
          </p:cNvPr>
          <p:cNvSpPr/>
          <p:nvPr/>
        </p:nvSpPr>
        <p:spPr>
          <a:xfrm>
            <a:off x="5898031" y="1824780"/>
            <a:ext cx="961902" cy="4393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441374-3750-4CF2-B87F-2AF31B46C763}"/>
              </a:ext>
            </a:extLst>
          </p:cNvPr>
          <p:cNvSpPr/>
          <p:nvPr/>
        </p:nvSpPr>
        <p:spPr>
          <a:xfrm>
            <a:off x="2406688" y="2638766"/>
            <a:ext cx="3146960" cy="6828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128 + </a:t>
            </a:r>
            <a:r>
              <a:rPr lang="en-GB" sz="3600" dirty="0">
                <a:solidFill>
                  <a:srgbClr val="FF0000"/>
                </a:solidFill>
              </a:rPr>
              <a:t>22</a:t>
            </a:r>
            <a:r>
              <a:rPr lang="en-GB" sz="3600" dirty="0"/>
              <a:t> = 150</a:t>
            </a:r>
          </a:p>
        </p:txBody>
      </p:sp>
    </p:spTree>
    <p:extLst>
      <p:ext uri="{BB962C8B-B14F-4D97-AF65-F5344CB8AC3E}">
        <p14:creationId xmlns:p14="http://schemas.microsoft.com/office/powerpoint/2010/main" val="386773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E78D8-9F02-4936-B8D9-2434A5471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Cách</a:t>
            </a:r>
            <a:r>
              <a:rPr lang="en-GB" dirty="0"/>
              <a:t> </a:t>
            </a:r>
            <a:r>
              <a:rPr lang="en-GB" dirty="0" err="1"/>
              <a:t>viết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gán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00D0B-0FAA-42BC-8F68-902C3515C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6251"/>
            <a:ext cx="4768702" cy="1911403"/>
          </a:xfrm>
        </p:spPr>
        <p:txBody>
          <a:bodyPr/>
          <a:lstStyle/>
          <a:p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thể</a:t>
            </a:r>
            <a:r>
              <a:rPr lang="en-GB" dirty="0"/>
              <a:t> </a:t>
            </a:r>
            <a:r>
              <a:rPr lang="en-GB" dirty="0" err="1"/>
              <a:t>gán</a:t>
            </a:r>
            <a:r>
              <a:rPr lang="en-GB" dirty="0"/>
              <a:t> </a:t>
            </a:r>
            <a:r>
              <a:rPr lang="en-GB" dirty="0" err="1"/>
              <a:t>nhiều</a:t>
            </a:r>
            <a:r>
              <a:rPr lang="en-GB" dirty="0"/>
              <a:t> </a:t>
            </a:r>
            <a:r>
              <a:rPr lang="en-GB" dirty="0" err="1"/>
              <a:t>biến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giá</a:t>
            </a:r>
            <a:r>
              <a:rPr lang="en-GB" dirty="0"/>
              <a:t> </a:t>
            </a:r>
            <a:r>
              <a:rPr lang="en-GB" dirty="0" err="1"/>
              <a:t>trị</a:t>
            </a:r>
            <a:r>
              <a:rPr lang="en-GB" dirty="0"/>
              <a:t> </a:t>
            </a:r>
            <a:r>
              <a:rPr lang="en-GB" dirty="0" err="1"/>
              <a:t>cùng</a:t>
            </a:r>
            <a:r>
              <a:rPr lang="en-GB" dirty="0"/>
              <a:t> </a:t>
            </a:r>
            <a:r>
              <a:rPr lang="en-GB" dirty="0" err="1"/>
              <a:t>lúc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299A7E-B837-4A55-80DB-F2CA0584B0E5}"/>
              </a:ext>
            </a:extLst>
          </p:cNvPr>
          <p:cNvSpPr/>
          <p:nvPr/>
        </p:nvSpPr>
        <p:spPr>
          <a:xfrm>
            <a:off x="1452013" y="1690688"/>
            <a:ext cx="3146960" cy="6828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rgbClr val="FF0000"/>
                </a:solidFill>
              </a:rPr>
              <a:t>X</a:t>
            </a:r>
            <a:r>
              <a:rPr lang="en-GB" sz="3600" dirty="0"/>
              <a:t> = </a:t>
            </a:r>
            <a:r>
              <a:rPr lang="en-GB" sz="3600" dirty="0">
                <a:solidFill>
                  <a:srgbClr val="FFC000"/>
                </a:solidFill>
              </a:rPr>
              <a:t>Y</a:t>
            </a:r>
            <a:r>
              <a:rPr lang="en-GB" sz="3600" dirty="0"/>
              <a:t> = 22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5DC80B-3E48-449E-920B-44CEA34B7EAC}"/>
              </a:ext>
            </a:extLst>
          </p:cNvPr>
          <p:cNvSpPr/>
          <p:nvPr/>
        </p:nvSpPr>
        <p:spPr>
          <a:xfrm>
            <a:off x="7179417" y="1690688"/>
            <a:ext cx="3146960" cy="1073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3600" dirty="0">
                <a:solidFill>
                  <a:srgbClr val="FF0000"/>
                </a:solidFill>
              </a:rPr>
              <a:t>Y = 10</a:t>
            </a:r>
          </a:p>
          <a:p>
            <a:pPr lvl="1"/>
            <a:r>
              <a:rPr lang="en-GB" sz="3600" dirty="0">
                <a:solidFill>
                  <a:srgbClr val="FF0000"/>
                </a:solidFill>
              </a:rPr>
              <a:t>X</a:t>
            </a:r>
            <a:r>
              <a:rPr lang="en-GB" sz="3600" dirty="0"/>
              <a:t> = </a:t>
            </a:r>
            <a:r>
              <a:rPr lang="en-GB" sz="3600" dirty="0">
                <a:solidFill>
                  <a:srgbClr val="FFC000"/>
                </a:solidFill>
              </a:rPr>
              <a:t>Y</a:t>
            </a:r>
            <a:r>
              <a:rPr lang="en-GB" sz="3600" dirty="0"/>
              <a:t> + 22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98B63F-0F9D-49E3-9B5C-B7A6921E1DFB}"/>
              </a:ext>
            </a:extLst>
          </p:cNvPr>
          <p:cNvSpPr txBox="1">
            <a:spLocks/>
          </p:cNvSpPr>
          <p:nvPr/>
        </p:nvSpPr>
        <p:spPr>
          <a:xfrm>
            <a:off x="6934200" y="2888991"/>
            <a:ext cx="4419600" cy="2859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BEDD651-E3C4-469A-9126-B0A3319BE7C8}"/>
              </a:ext>
            </a:extLst>
          </p:cNvPr>
          <p:cNvSpPr txBox="1">
            <a:spLocks/>
          </p:cNvSpPr>
          <p:nvPr/>
        </p:nvSpPr>
        <p:spPr>
          <a:xfrm>
            <a:off x="6934200" y="2948763"/>
            <a:ext cx="4768702" cy="1911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thể</a:t>
            </a:r>
            <a:r>
              <a:rPr lang="en-GB" dirty="0"/>
              <a:t> </a:t>
            </a:r>
            <a:r>
              <a:rPr lang="en-GB" dirty="0" err="1"/>
              <a:t>gán</a:t>
            </a:r>
            <a:r>
              <a:rPr lang="en-GB" dirty="0"/>
              <a:t> </a:t>
            </a:r>
            <a:r>
              <a:rPr lang="en-GB" dirty="0" err="1"/>
              <a:t>giá</a:t>
            </a:r>
            <a:r>
              <a:rPr lang="en-GB" dirty="0"/>
              <a:t> </a:t>
            </a:r>
            <a:r>
              <a:rPr lang="en-GB" dirty="0" err="1"/>
              <a:t>trị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biến</a:t>
            </a:r>
            <a:r>
              <a:rPr lang="en-GB" dirty="0"/>
              <a:t> </a:t>
            </a:r>
            <a:r>
              <a:rPr lang="en-GB" dirty="0" err="1"/>
              <a:t>bằng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biểu</a:t>
            </a:r>
            <a:r>
              <a:rPr lang="en-GB" dirty="0"/>
              <a:t> </a:t>
            </a:r>
            <a:r>
              <a:rPr lang="en-GB" dirty="0" err="1"/>
              <a:t>thức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609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930F7-345B-48BD-953F-364E5DAFF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</a:t>
            </a:r>
            <a:r>
              <a:rPr lang="en-GB" dirty="0" err="1"/>
              <a:t>ra</a:t>
            </a:r>
            <a:r>
              <a:rPr lang="en-GB" dirty="0"/>
              <a:t> </a:t>
            </a:r>
            <a:r>
              <a:rPr lang="en-GB" dirty="0" err="1"/>
              <a:t>cơ</a:t>
            </a:r>
            <a:r>
              <a:rPr lang="en-GB" dirty="0"/>
              <a:t> </a:t>
            </a:r>
            <a:r>
              <a:rPr lang="en-GB" dirty="0" err="1"/>
              <a:t>bản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8EC52-7EE3-41DB-9458-CF9273A32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1187"/>
            <a:ext cx="4612758" cy="3025775"/>
          </a:xfrm>
        </p:spPr>
        <p:txBody>
          <a:bodyPr/>
          <a:lstStyle/>
          <a:p>
            <a:r>
              <a:rPr lang="en-GB" dirty="0"/>
              <a:t>Print: </a:t>
            </a:r>
            <a:r>
              <a:rPr lang="en-GB" dirty="0" err="1"/>
              <a:t>lệnh</a:t>
            </a:r>
            <a:r>
              <a:rPr lang="en-GB" dirty="0"/>
              <a:t> in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dòng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</a:t>
            </a:r>
            <a:r>
              <a:rPr lang="en-GB" dirty="0" err="1"/>
              <a:t>báo</a:t>
            </a:r>
            <a:r>
              <a:rPr lang="en-GB" dirty="0"/>
              <a:t> </a:t>
            </a:r>
            <a:r>
              <a:rPr lang="en-GB" dirty="0" err="1"/>
              <a:t>ra</a:t>
            </a:r>
            <a:r>
              <a:rPr lang="en-GB" dirty="0"/>
              <a:t> </a:t>
            </a:r>
            <a:r>
              <a:rPr lang="en-GB" dirty="0" err="1"/>
              <a:t>màn</a:t>
            </a:r>
            <a:r>
              <a:rPr lang="en-GB" dirty="0"/>
              <a:t> </a:t>
            </a:r>
            <a:r>
              <a:rPr lang="en-GB" dirty="0" err="1"/>
              <a:t>hình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8BEBE7-D3AD-428F-A8A6-240A9E745568}"/>
              </a:ext>
            </a:extLst>
          </p:cNvPr>
          <p:cNvSpPr/>
          <p:nvPr/>
        </p:nvSpPr>
        <p:spPr>
          <a:xfrm>
            <a:off x="6995120" y="1428899"/>
            <a:ext cx="3474406" cy="1073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name = input("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nhập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vào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tên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bạn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:")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print("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xin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chào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:",name)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830084-DBFF-4354-BD1A-1CE7C135ED79}"/>
              </a:ext>
            </a:extLst>
          </p:cNvPr>
          <p:cNvSpPr/>
          <p:nvPr/>
        </p:nvSpPr>
        <p:spPr>
          <a:xfrm>
            <a:off x="838200" y="1426831"/>
            <a:ext cx="3854302" cy="1073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print("Xin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chào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!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Tôi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là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học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viên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Kocun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")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D50B10-7A7A-4C4B-91EA-F2A279F13ECA}"/>
              </a:ext>
            </a:extLst>
          </p:cNvPr>
          <p:cNvSpPr txBox="1">
            <a:spLocks/>
          </p:cNvSpPr>
          <p:nvPr/>
        </p:nvSpPr>
        <p:spPr>
          <a:xfrm>
            <a:off x="6995120" y="3151186"/>
            <a:ext cx="4612758" cy="3025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input: 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</a:t>
            </a:r>
            <a:r>
              <a:rPr lang="en-GB" dirty="0" err="1"/>
              <a:t>bàn</a:t>
            </a:r>
            <a:r>
              <a:rPr lang="en-GB" dirty="0"/>
              <a:t> </a:t>
            </a:r>
            <a:r>
              <a:rPr lang="en-GB" dirty="0" err="1"/>
              <a:t>phím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273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5FD91-F838-47B5-888D-88290C9DF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toán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36AB6-918E-4662-AF2F-3A3B9C2E3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toán</a:t>
            </a:r>
            <a:r>
              <a:rPr lang="en-GB" dirty="0"/>
              <a:t> </a:t>
            </a:r>
            <a:r>
              <a:rPr lang="en-GB" dirty="0" err="1"/>
              <a:t>với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số</a:t>
            </a:r>
            <a:endParaRPr lang="en-GB" dirty="0"/>
          </a:p>
          <a:p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toán</a:t>
            </a:r>
            <a:r>
              <a:rPr lang="en-GB" dirty="0"/>
              <a:t> </a:t>
            </a:r>
            <a:r>
              <a:rPr lang="en-GB" dirty="0" err="1"/>
              <a:t>với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chuỗi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0372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D7DAC-55A0-4C05-9A20-E145617D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toán</a:t>
            </a:r>
            <a:r>
              <a:rPr lang="en-GB" dirty="0"/>
              <a:t> </a:t>
            </a:r>
            <a:r>
              <a:rPr lang="en-GB" dirty="0" err="1"/>
              <a:t>với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số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AA001-2EEC-4D7C-8438-118054740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377111-642A-45A8-9844-8D31FF8D40C3}"/>
              </a:ext>
            </a:extLst>
          </p:cNvPr>
          <p:cNvSpPr/>
          <p:nvPr/>
        </p:nvSpPr>
        <p:spPr>
          <a:xfrm>
            <a:off x="1116281" y="1900052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6</a:t>
            </a:r>
          </a:p>
          <a:p>
            <a:r>
              <a:rPr lang="fr-FR" dirty="0"/>
              <a:t>c = a + b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c)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04B95D-ED3E-4ADB-94E1-550CBDE812C2}"/>
              </a:ext>
            </a:extLst>
          </p:cNvPr>
          <p:cNvSpPr/>
          <p:nvPr/>
        </p:nvSpPr>
        <p:spPr>
          <a:xfrm>
            <a:off x="4405746" y="1900052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6</a:t>
            </a:r>
          </a:p>
          <a:p>
            <a:r>
              <a:rPr lang="fr-FR" dirty="0"/>
              <a:t>c = a * b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c)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8F599B-193B-4F59-916A-55323C62FDEF}"/>
              </a:ext>
            </a:extLst>
          </p:cNvPr>
          <p:cNvSpPr/>
          <p:nvPr/>
        </p:nvSpPr>
        <p:spPr>
          <a:xfrm>
            <a:off x="4405746" y="3299711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6</a:t>
            </a:r>
          </a:p>
          <a:p>
            <a:r>
              <a:rPr lang="fr-FR" dirty="0"/>
              <a:t>c = b/a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c)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CBD216-1CEC-49FA-B031-4C515636E93D}"/>
              </a:ext>
            </a:extLst>
          </p:cNvPr>
          <p:cNvSpPr/>
          <p:nvPr/>
        </p:nvSpPr>
        <p:spPr>
          <a:xfrm>
            <a:off x="1116281" y="3368933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6</a:t>
            </a:r>
          </a:p>
          <a:p>
            <a:r>
              <a:rPr lang="fr-FR" dirty="0"/>
              <a:t>c = b - a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c)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3979AA-C609-41FA-9E25-2511731EA038}"/>
              </a:ext>
            </a:extLst>
          </p:cNvPr>
          <p:cNvSpPr/>
          <p:nvPr/>
        </p:nvSpPr>
        <p:spPr>
          <a:xfrm>
            <a:off x="7558644" y="1900052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7</a:t>
            </a:r>
          </a:p>
          <a:p>
            <a:r>
              <a:rPr lang="fr-FR" dirty="0"/>
              <a:t>c = </a:t>
            </a:r>
            <a:r>
              <a:rPr lang="fr-FR" dirty="0" err="1"/>
              <a:t>b%a</a:t>
            </a:r>
            <a:endParaRPr lang="fr-FR" dirty="0"/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c)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8C0B78-EC28-44DB-80A5-D4E605C35637}"/>
              </a:ext>
            </a:extLst>
          </p:cNvPr>
          <p:cNvSpPr/>
          <p:nvPr/>
        </p:nvSpPr>
        <p:spPr>
          <a:xfrm>
            <a:off x="7558644" y="3357058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a**2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b)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304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7FF6A-52C6-4BB4-9906-684CB10A6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toán</a:t>
            </a:r>
            <a:r>
              <a:rPr lang="en-GB" dirty="0"/>
              <a:t> </a:t>
            </a:r>
            <a:r>
              <a:rPr lang="en-GB" dirty="0" err="1"/>
              <a:t>với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chuỗi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C87CC-E87C-484E-96E9-0604A1BD1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7DF44-63D7-4005-A686-B16BA016411F}"/>
              </a:ext>
            </a:extLst>
          </p:cNvPr>
          <p:cNvSpPr/>
          <p:nvPr/>
        </p:nvSpPr>
        <p:spPr>
          <a:xfrm>
            <a:off x="1258786" y="1885001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"</a:t>
            </a:r>
            <a:r>
              <a:rPr lang="fr-FR" dirty="0" err="1"/>
              <a:t>Kocun</a:t>
            </a:r>
            <a:r>
              <a:rPr lang="fr-FR" dirty="0"/>
              <a:t>"</a:t>
            </a:r>
          </a:p>
          <a:p>
            <a:r>
              <a:rPr lang="fr-FR" dirty="0"/>
              <a:t>b = "</a:t>
            </a:r>
            <a:r>
              <a:rPr lang="fr-FR" dirty="0" err="1"/>
              <a:t>Hải</a:t>
            </a:r>
            <a:r>
              <a:rPr lang="fr-FR" dirty="0"/>
              <a:t> </a:t>
            </a:r>
            <a:r>
              <a:rPr lang="fr-FR" dirty="0" err="1"/>
              <a:t>Phòng</a:t>
            </a:r>
            <a:r>
              <a:rPr lang="fr-FR" dirty="0"/>
              <a:t>"</a:t>
            </a:r>
          </a:p>
          <a:p>
            <a:r>
              <a:rPr lang="fr-FR" dirty="0"/>
              <a:t>c = </a:t>
            </a:r>
            <a:r>
              <a:rPr lang="fr-FR" dirty="0" err="1"/>
              <a:t>a+b</a:t>
            </a:r>
            <a:endParaRPr lang="fr-FR" dirty="0"/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: ", c)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552406-9610-44FB-8889-C196FD1347CB}"/>
              </a:ext>
            </a:extLst>
          </p:cNvPr>
          <p:cNvSpPr/>
          <p:nvPr/>
        </p:nvSpPr>
        <p:spPr>
          <a:xfrm>
            <a:off x="5741720" y="1885001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"</a:t>
            </a:r>
            <a:r>
              <a:rPr lang="fr-FR" dirty="0" err="1"/>
              <a:t>Kocun</a:t>
            </a:r>
            <a:r>
              <a:rPr lang="fr-FR" dirty="0"/>
              <a:t>"</a:t>
            </a:r>
          </a:p>
          <a:p>
            <a:r>
              <a:rPr lang="fr-FR" dirty="0"/>
              <a:t>c = a*10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: ", c)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290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A6DA-8F0F-453B-85FE-E413E6833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140" y="2585810"/>
            <a:ext cx="10515600" cy="1325563"/>
          </a:xfrm>
        </p:spPr>
        <p:txBody>
          <a:bodyPr/>
          <a:lstStyle/>
          <a:p>
            <a:pPr algn="ctr"/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thúc</a:t>
            </a:r>
            <a:r>
              <a:rPr lang="en-GB" dirty="0"/>
              <a:t> </a:t>
            </a:r>
            <a:r>
              <a:rPr lang="en-GB" dirty="0" err="1"/>
              <a:t>buổi</a:t>
            </a:r>
            <a:r>
              <a:rPr lang="en-GB" dirty="0"/>
              <a:t> </a:t>
            </a:r>
            <a:r>
              <a:rPr lang="en-GB" dirty="0" err="1"/>
              <a:t>học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0524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476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Các lệnh cơ bản</vt:lpstr>
      <vt:lpstr>Nội dung bài học</vt:lpstr>
      <vt:lpstr>Biến là gì?</vt:lpstr>
      <vt:lpstr>Biến là gì?</vt:lpstr>
      <vt:lpstr>Lệnh gán</vt:lpstr>
      <vt:lpstr>Cách viết của lệnh gán</vt:lpstr>
      <vt:lpstr>Các lệnh vào ra cơ bản</vt:lpstr>
      <vt:lpstr>Các phép toán</vt:lpstr>
      <vt:lpstr>Phép toán với dữ liệu số</vt:lpstr>
      <vt:lpstr>Phép toán với dữ liệu chuỗi</vt:lpstr>
      <vt:lpstr>Kết thúc buổi học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Các lệnh cơ bản</dc:title>
  <dc:creator>hau nguyen</dc:creator>
  <cp:lastModifiedBy>hau nguyen</cp:lastModifiedBy>
  <cp:revision>32</cp:revision>
  <dcterms:created xsi:type="dcterms:W3CDTF">2024-01-18T14:39:25Z</dcterms:created>
  <dcterms:modified xsi:type="dcterms:W3CDTF">2024-01-20T15:09:12Z</dcterms:modified>
</cp:coreProperties>
</file>